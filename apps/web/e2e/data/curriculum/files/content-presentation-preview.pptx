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6A4BF5"/>
                </a:solidFill>
                <a:latin typeface="Aptos"/>
              </a:rPr>
              <a:t>Mentingo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F1730"/>
                </a:solidFill>
                <a:latin typeface="Aptos"/>
              </a:rPr>
              <a:t>Content presentation preview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84831"/>
            <a:ext cx="48463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62687A"/>
                </a:solidFill>
                <a:latin typeface="Aptos"/>
              </a:rPr>
              <a:t>A public-site snapshot of product positioning, AI Mentor capabilities, pricing, and recent product momentum.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154680"/>
            <a:ext cx="1417320" cy="347472"/>
          </a:xfrm>
          <a:prstGeom prst="roundRect">
            <a:avLst/>
          </a:prstGeom>
          <a:solidFill>
            <a:srgbClr val="ECE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3227832"/>
            <a:ext cx="119786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6A4BF5"/>
                </a:solidFill>
                <a:latin typeface="Aptos"/>
              </a:rPr>
              <a:t>HR &amp; L&amp;D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48840" y="3154680"/>
            <a:ext cx="1737360" cy="347472"/>
          </a:xfrm>
          <a:prstGeom prst="roundRect">
            <a:avLst/>
          </a:prstGeom>
          <a:solidFill>
            <a:srgbClr val="ECE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58568" y="3227832"/>
            <a:ext cx="151790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6A4BF5"/>
                </a:solidFill>
                <a:latin typeface="Aptos"/>
              </a:rPr>
              <a:t>AI practice layer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3154680"/>
            <a:ext cx="1417320" cy="347472"/>
          </a:xfrm>
          <a:prstGeom prst="roundRect">
            <a:avLst/>
          </a:prstGeom>
          <a:solidFill>
            <a:srgbClr val="ECE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87367" y="3227832"/>
            <a:ext cx="119786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6A4BF5"/>
                </a:solidFill>
                <a:latin typeface="Aptos"/>
              </a:rPr>
              <a:t>Pricing 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98932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2687A"/>
                </a:solidFill>
                <a:latin typeface="Aptos"/>
              </a:rPr>
              <a:t>Based on Mentingo public pages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914400"/>
            <a:ext cx="49834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2_table_t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300000">
            <a:off x="6812280" y="1463040"/>
            <a:ext cx="4206240" cy="2788920"/>
          </a:xfrm>
          <a:prstGeom prst="rect">
            <a:avLst/>
          </a:prstGeom>
          <a:ln w="12700">
            <a:solidFill>
              <a:srgbClr val="DCDDE6"/>
            </a:solidFill>
          </a:ln>
        </p:spPr>
      </p:pic>
      <p:pic>
        <p:nvPicPr>
          <p:cNvPr id="15" name="Picture 14" descr="p1_bod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0000">
            <a:off x="6629400" y="1143000"/>
            <a:ext cx="4389120" cy="4498848"/>
          </a:xfrm>
          <a:prstGeom prst="rect">
            <a:avLst/>
          </a:prstGeom>
          <a:ln w="12700">
            <a:solidFill>
              <a:srgbClr val="DCDDE6"/>
            </a:solidFill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F1730"/>
                </a:solidFill>
                <a:latin typeface="Aptos"/>
              </a:rPr>
              <a:t>How Mentingo positions itself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87552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62687A"/>
                </a:solidFill>
                <a:latin typeface="Aptos"/>
              </a:rPr>
              <a:t>Mentingo presents itself as an AI-enabled learning platform for HR and L&amp;D teams.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554480"/>
            <a:ext cx="475488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F1730"/>
                </a:solidFill>
                <a:latin typeface="Aptos"/>
              </a:defRPr>
            </a:pPr>
            <a:r>
              <a:t>Targets onboarding, mandatory training, development programs, career paths, and upskilling.</a:t>
            </a:r>
          </a:p>
          <a:p>
            <a:pPr>
              <a:spcAft>
                <a:spcPts val="1200"/>
              </a:spcAft>
              <a:defRPr sz="1800">
                <a:solidFill>
                  <a:srgbClr val="0F1730"/>
                </a:solidFill>
                <a:latin typeface="Aptos"/>
              </a:defRPr>
            </a:pPr>
            <a:r>
              <a:t>Promises faster course creation with AI and simulations based on real workplace challenges.</a:t>
            </a:r>
          </a:p>
          <a:p>
            <a:pPr>
              <a:spcAft>
                <a:spcPts val="1200"/>
              </a:spcAft>
              <a:defRPr sz="1800">
                <a:solidFill>
                  <a:srgbClr val="0F1730"/>
                </a:solidFill>
                <a:latin typeface="Aptos"/>
              </a:defRPr>
            </a:pPr>
            <a:r>
              <a:t>Frames the platform as one place to plan, run, and measure people development.</a:t>
            </a:r>
          </a:p>
          <a:p>
            <a:pPr>
              <a:spcAft>
                <a:spcPts val="1200"/>
              </a:spcAft>
              <a:defRPr sz="1800">
                <a:solidFill>
                  <a:srgbClr val="0F1730"/>
                </a:solidFill>
                <a:latin typeface="Aptos"/>
              </a:defRPr>
            </a:pPr>
            <a:r>
              <a:t>Public site emphasizes practical learning, not just passive content delivery.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440680"/>
            <a:ext cx="5029200" cy="822960"/>
          </a:xfrm>
          <a:prstGeom prst="roundRect">
            <a:avLst/>
          </a:prstGeom>
          <a:solidFill>
            <a:srgbClr val="ECE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5596128"/>
            <a:ext cx="457200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F1730"/>
                </a:solidFill>
                <a:latin typeface="Aptos"/>
              </a:rPr>
              <a:t>Site messaging leans toward team capability-building rather than a generic LMS pitch.</a:t>
            </a:r>
          </a:p>
        </p:txBody>
      </p:sp>
      <p:pic>
        <p:nvPicPr>
          <p:cNvPr id="7" name="Picture 6" descr="p1_bo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960120"/>
            <a:ext cx="5349240" cy="5440680"/>
          </a:xfrm>
          <a:prstGeom prst="rect">
            <a:avLst/>
          </a:prstGeom>
          <a:ln w="12700">
            <a:solidFill>
              <a:srgbClr val="DCDDE6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6400800" y="502920"/>
            <a:ext cx="1463040" cy="347472"/>
          </a:xfrm>
          <a:prstGeom prst="roundRect">
            <a:avLst/>
          </a:prstGeom>
          <a:solidFill>
            <a:srgbClr val="ECE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0528" y="585216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6A4BF5"/>
                </a:solidFill>
                <a:latin typeface="Aptos"/>
              </a:rPr>
              <a:t>Public snapshot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F1730"/>
                </a:solidFill>
                <a:latin typeface="Aptos"/>
              </a:rPr>
              <a:t>Where AI Mentor fits in the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87552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62687A"/>
                </a:solidFill>
                <a:latin typeface="Aptos"/>
              </a:rPr>
              <a:t>Mentingo combines AI practice, content generation, analytics, and broader LMS workflows.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50292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91640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F1730"/>
                </a:solidFill>
                <a:latin typeface="Aptos"/>
              </a:rPr>
              <a:t>Interactive AI lessons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700784"/>
            <a:ext cx="265176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2687A"/>
                </a:solidFill>
                <a:latin typeface="Aptos"/>
              </a:rPr>
              <a:t>Practice scenarios with an AI mentor instead of only reading or watching.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97480"/>
            <a:ext cx="50292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788920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F1730"/>
                </a:solidFill>
                <a:latin typeface="Aptos"/>
              </a:rPr>
              <a:t>Courses from documents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798064"/>
            <a:ext cx="265176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2687A"/>
                </a:solidFill>
                <a:latin typeface="Aptos"/>
              </a:rPr>
              <a:t>Upload company docs and turn them into training content more quickly.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794760"/>
            <a:ext cx="50292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886200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F1730"/>
                </a:solidFill>
                <a:latin typeface="Aptos"/>
              </a:rPr>
              <a:t>Stats and reports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895344"/>
            <a:ext cx="265176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2687A"/>
                </a:solidFill>
                <a:latin typeface="Aptos"/>
              </a:rPr>
              <a:t>Track progress, engagement, and learning effectiveness in real time.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892040"/>
            <a:ext cx="50292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983479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F1730"/>
                </a:solidFill>
                <a:latin typeface="Aptos"/>
              </a:rPr>
              <a:t>White-label + integrations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4992624"/>
            <a:ext cx="265176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2687A"/>
                </a:solidFill>
                <a:latin typeface="Aptos"/>
              </a:rPr>
              <a:t>Brand the experience and connect tools like Monday, Zapier, Moodle, Make, and Canvas.</a:t>
            </a:r>
          </a:p>
        </p:txBody>
      </p:sp>
      <p:pic>
        <p:nvPicPr>
          <p:cNvPr id="16" name="Picture 15" descr="p2_capabilit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143000"/>
            <a:ext cx="5212080" cy="3017520"/>
          </a:xfrm>
          <a:prstGeom prst="rect">
            <a:avLst/>
          </a:prstGeom>
          <a:ln w="12700">
            <a:solidFill>
              <a:srgbClr val="DCDDE6"/>
            </a:solidFill>
          </a:ln>
        </p:spPr>
      </p:pic>
      <p:pic>
        <p:nvPicPr>
          <p:cNvPr id="17" name="Picture 16" descr="p1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4526280"/>
            <a:ext cx="4754880" cy="1783080"/>
          </a:xfrm>
          <a:prstGeom prst="rect">
            <a:avLst/>
          </a:prstGeom>
          <a:ln w="12700">
            <a:solidFill>
              <a:srgbClr val="DCDDE6"/>
            </a:solidFill>
          </a:ln>
        </p:spPr>
      </p:pic>
      <p:sp>
        <p:nvSpPr>
          <p:cNvPr id="18" name="TextBox 17"/>
          <p:cNvSpPr txBox="1"/>
          <p:nvPr/>
        </p:nvSpPr>
        <p:spPr>
          <a:xfrm>
            <a:off x="6355080" y="6336792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2687A"/>
                </a:solidFill>
                <a:latin typeface="Aptos"/>
              </a:rPr>
              <a:t>Public benefits highlighted on pricing and homepage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F1730"/>
                </a:solidFill>
                <a:latin typeface="Aptos"/>
              </a:rPr>
              <a:t>Pricing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87552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62687A"/>
                </a:solidFill>
                <a:latin typeface="Aptos"/>
              </a:rPr>
              <a:t>Public pricing shows four main tiers plus optional voice add-ons.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600200"/>
            <a:ext cx="23317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F1730"/>
                </a:solidFill>
                <a:latin typeface="Aptos"/>
              </a:rPr>
              <a:t>Starter
190 € / month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27248" y="1600200"/>
            <a:ext cx="23317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28416" y="178308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F1730"/>
                </a:solidFill>
                <a:latin typeface="Aptos"/>
              </a:rPr>
              <a:t>Business
490 € / month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743200"/>
            <a:ext cx="23317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92608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F1730"/>
                </a:solidFill>
                <a:latin typeface="Aptos"/>
              </a:rPr>
              <a:t>Corporate
890 € / month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27248" y="2743200"/>
            <a:ext cx="23317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28416" y="292608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F1730"/>
                </a:solidFill>
                <a:latin typeface="Aptos"/>
              </a:rPr>
              <a:t>Enterprise
Custom quote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4005072"/>
            <a:ext cx="4800600" cy="1234440"/>
          </a:xfrm>
          <a:prstGeom prst="roundRect">
            <a:avLst/>
          </a:prstGeom>
          <a:solidFill>
            <a:srgbClr val="ECE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4206240"/>
            <a:ext cx="4389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F1730"/>
                </a:solidFill>
                <a:latin typeface="Aptos"/>
              </a:rPr>
              <a:t>Voice AI Mentor add-on: 60 / 160 / 300 € monthly for Starter / Business / Corporate, with enterprise pricing custom.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4800600"/>
            <a:ext cx="4297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2687A"/>
                </a:solidFill>
                <a:latin typeface="Aptos"/>
              </a:rPr>
              <a:t>Annual upfront payment is advertised with two months free.</a:t>
            </a:r>
          </a:p>
        </p:txBody>
      </p:sp>
      <p:pic>
        <p:nvPicPr>
          <p:cNvPr id="15" name="Picture 14" descr="p2_table_t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914400"/>
            <a:ext cx="5669280" cy="4069080"/>
          </a:xfrm>
          <a:prstGeom prst="rect">
            <a:avLst/>
          </a:prstGeom>
          <a:ln w="12700">
            <a:solidFill>
              <a:srgbClr val="DCDDE6"/>
            </a:solidFill>
          </a:ln>
        </p:spPr>
      </p:pic>
      <p:pic>
        <p:nvPicPr>
          <p:cNvPr id="16" name="Picture 15" descr="p2_add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5120640"/>
            <a:ext cx="5669280" cy="1097280"/>
          </a:xfrm>
          <a:prstGeom prst="rect">
            <a:avLst/>
          </a:prstGeom>
          <a:ln w="12700">
            <a:solidFill>
              <a:srgbClr val="DCDDE6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F1730"/>
                </a:solidFill>
                <a:latin typeface="Aptos"/>
              </a:rPr>
              <a:t>Signals from the public changelog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87552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62687A"/>
                </a:solidFill>
                <a:latin typeface="Aptos"/>
              </a:rPr>
              <a:t>The changelog makes Mentingo look like an actively evolving AI learning product.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554480"/>
            <a:ext cx="480060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0F1730"/>
                </a:solidFill>
                <a:latin typeface="Aptos"/>
              </a:defRPr>
            </a:pPr>
            <a:r>
              <a:t>2026: magic-link login, AI Mentor task descriptions, modern course list, and reliability improvements.</a:t>
            </a:r>
          </a:p>
          <a:p>
            <a:pPr>
              <a:spcAft>
                <a:spcPts val="1200"/>
              </a:spcAft>
              <a:defRPr sz="1600">
                <a:solidFill>
                  <a:srgbClr val="0F1730"/>
                </a:solidFill>
                <a:latin typeface="Aptos"/>
              </a:defRPr>
            </a:pPr>
            <a:r>
              <a:t>Late 2025: multilingual course UI, customizable AI Mentor appearance, group/user unenrollment, and admin previews of student conversations.</a:t>
            </a:r>
          </a:p>
          <a:p>
            <a:pPr>
              <a:spcAft>
                <a:spcPts val="1200"/>
              </a:spcAft>
              <a:defRPr sz="1600">
                <a:solidFill>
                  <a:srgbClr val="0F1730"/>
                </a:solidFill>
                <a:latin typeface="Aptos"/>
              </a:defRPr>
            </a:pPr>
            <a:r>
              <a:t>Nov 2025: prompt management, emoji picker, evaluators/scores, and richer AI Mentor workflows.</a:t>
            </a:r>
          </a:p>
          <a:p>
            <a:pPr>
              <a:spcAft>
                <a:spcPts val="1200"/>
              </a:spcAft>
              <a:defRPr sz="1600">
                <a:solidFill>
                  <a:srgbClr val="0F1730"/>
                </a:solidFill>
                <a:latin typeface="Aptos"/>
              </a:defRPr>
            </a:pPr>
            <a:r>
              <a:t>Oct 2025: multiple AI Mentor conversation types, preview mode, student interaction, and broader learning analytics.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5257800"/>
            <a:ext cx="48920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5449824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F1730"/>
                </a:solidFill>
                <a:latin typeface="Aptos"/>
              </a:rPr>
              <a:t>Takeaway: Mentingo appears to be pushing beyond a basic LMS toward configurable AI-guided practice and enterprise readiness.</a:t>
            </a:r>
          </a:p>
        </p:txBody>
      </p:sp>
      <p:pic>
        <p:nvPicPr>
          <p:cNvPr id="7" name="Picture 6" descr="p3_change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932688"/>
            <a:ext cx="5532120" cy="5440680"/>
          </a:xfrm>
          <a:prstGeom prst="rect">
            <a:avLst/>
          </a:prstGeom>
          <a:ln w="12700">
            <a:solidFill>
              <a:srgbClr val="DCDDE6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6263640" y="512064"/>
            <a:ext cx="1737360" cy="347472"/>
          </a:xfrm>
          <a:prstGeom prst="roundRect">
            <a:avLst/>
          </a:prstGeom>
          <a:solidFill>
            <a:srgbClr val="ECE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585216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6A4BF5"/>
                </a:solidFill>
                <a:latin typeface="Aptos"/>
              </a:rPr>
              <a:t>Release activity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F1730"/>
                </a:solidFill>
                <a:latin typeface="Aptos"/>
              </a:rPr>
              <a:t>Bottom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87552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62687A"/>
                </a:solidFill>
                <a:latin typeface="Aptos"/>
              </a:rPr>
              <a:t>Best public-facing fit: organizations that want training content and realistic skill practice in the same platform.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17830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874519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6A4BF5"/>
                </a:solidFill>
                <a:latin typeface="Aptos"/>
              </a:rPr>
              <a:t>Best 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2249424"/>
            <a:ext cx="1426464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F1730"/>
                </a:solidFill>
                <a:latin typeface="Aptos"/>
              </a:rPr>
              <a:t>HR/L&amp;D teams building onboarding, compliance, and upskilling programs for 50+ users.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97480" y="1645920"/>
            <a:ext cx="17830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62072" y="1874519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6A4BF5"/>
                </a:solidFill>
                <a:latin typeface="Aptos"/>
              </a:rPr>
              <a:t>Why it stands 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62072" y="2249424"/>
            <a:ext cx="1426464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F1730"/>
                </a:solidFill>
                <a:latin typeface="Aptos"/>
              </a:rPr>
              <a:t>AI Mentor roleplay, document-to-course workflows, analytics, and white-label options.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60" y="1645920"/>
            <a:ext cx="17830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73752" y="1874519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6A4BF5"/>
                </a:solidFill>
                <a:latin typeface="Aptos"/>
              </a:rPr>
              <a:t>Questions buyers will 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73752" y="2249424"/>
            <a:ext cx="1426464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F1730"/>
                </a:solidFill>
                <a:latin typeface="Aptos"/>
              </a:rPr>
              <a:t>Integration depth, security posture, implementation effort, and true ROI after rollout.</a:t>
            </a:r>
          </a:p>
        </p:txBody>
      </p:sp>
      <p:pic>
        <p:nvPicPr>
          <p:cNvPr id="13" name="Picture 12" descr="p3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417320"/>
            <a:ext cx="4846320" cy="3383280"/>
          </a:xfrm>
          <a:prstGeom prst="rect">
            <a:avLst/>
          </a:prstGeom>
          <a:ln w="12700">
            <a:solidFill>
              <a:srgbClr val="DCDDE6"/>
            </a:solidFill>
          </a:ln>
        </p:spPr>
      </p:pic>
      <p:sp>
        <p:nvSpPr>
          <p:cNvPr id="14" name="Rounded Rectangle 13"/>
          <p:cNvSpPr/>
          <p:nvPr/>
        </p:nvSpPr>
        <p:spPr>
          <a:xfrm>
            <a:off x="676656" y="4069080"/>
            <a:ext cx="5394960" cy="1005840"/>
          </a:xfrm>
          <a:prstGeom prst="roundRect">
            <a:avLst/>
          </a:prstGeom>
          <a:solidFill>
            <a:srgbClr val="ECE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34340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F1730"/>
                </a:solidFill>
                <a:latin typeface="Aptos"/>
              </a:rPr>
              <a:t>Overall impression from public materials: Mentingo is selling a modern, AI-enabled training platform with practical conversation practice as a differentiator.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89788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2687A"/>
                </a:solidFill>
                <a:latin typeface="Aptos"/>
              </a:rPr>
              <a:t>Sources used: Mentingo public homepage, pricing, changelog, learning hub, and case-study pages.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